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9T07:12:02.604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 0,'9645'0'0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9T07:12:14.245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1 735 0,'8753'-734'0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5196-C8FF-E9BA-63B6-708F16E2E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688EB-2574-F1EB-042A-F060FD68AA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E94B3-9EDF-D02D-15EC-E155B1C94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4A165-AB68-4DAF-AAD2-3AD470CCBF3B}" type="datetimeFigureOut">
              <a:rPr lang="he-IL" smtClean="0"/>
              <a:t>ט"ו/תמוז/תשפ"ו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15651-AF8D-42EA-BEAA-657D7AEF8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72C18-08FF-46C8-348D-C71E1C517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FC39-FBFB-4D24-90A1-FB2E0D83F9F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1780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5AE11-BD76-C9E6-6C3C-4DCB0D403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593B2-720C-6CA6-44B9-5799EAC13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35128-0AB6-BD22-B586-3E036DAED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4A165-AB68-4DAF-AAD2-3AD470CCBF3B}" type="datetimeFigureOut">
              <a:rPr lang="he-IL" smtClean="0"/>
              <a:t>ט"ו/תמוז/תשפ"ו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464FC-6BC2-2C68-9854-8C209ED6F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49DEF-0447-4955-BD9B-2364FCBCF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FC39-FBFB-4D24-90A1-FB2E0D83F9F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7600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7391B-5B63-07E5-C488-53B525F17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6374F-71F2-B1C2-BD37-5ED879DC3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33025-2C2A-3B23-5373-580FC954A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4A165-AB68-4DAF-AAD2-3AD470CCBF3B}" type="datetimeFigureOut">
              <a:rPr lang="he-IL" smtClean="0"/>
              <a:t>ט"ו/תמוז/תשפ"ו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1762D-7FDF-A532-FF1A-96435CCD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8A45C-1D52-883A-B0CE-ED014F548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FC39-FBFB-4D24-90A1-FB2E0D83F9F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23428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35A2-5ACC-FAF1-30E9-3DD2028D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E2EF6-9D3D-F950-5862-B2BB2CEAD7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5A94B5-F2D4-8895-F781-B99293474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1E870-CEC4-1564-CCDF-2E7D261DB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4A165-AB68-4DAF-AAD2-3AD470CCBF3B}" type="datetimeFigureOut">
              <a:rPr lang="he-IL" smtClean="0"/>
              <a:t>ט"ו/תמוז/תשפ"ו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B90D6-EB5F-2E06-0B36-D4E4F234A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2F1F3-1C95-C0E5-8336-78BACE0A3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FC39-FBFB-4D24-90A1-FB2E0D83F9F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61396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1AA3F-96EA-3C19-8B6D-6DD89B647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4E79D-F585-0AFF-C665-9DD50F5CD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A88CC-791C-9F58-A972-CC23A39CD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15013E-4C75-6750-99A9-BDB9C89E0C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8454D1-5D20-81EF-B120-60A4EE4FFD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53EFB4-FE7B-B667-62CA-4C6DB9B5F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4A165-AB68-4DAF-AAD2-3AD470CCBF3B}" type="datetimeFigureOut">
              <a:rPr lang="he-IL" smtClean="0"/>
              <a:t>ט"ו/תמוז/תשפ"ו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98CC39-8337-7365-AD91-C214A1582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8813D4-E7BB-0746-56C0-4E3ABDEE5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FC39-FBFB-4D24-90A1-FB2E0D83F9F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8714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245B4-08D2-FCF3-796F-7E63A0D66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589CFC-06E4-2430-9A8A-DB9A3BF5B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4A165-AB68-4DAF-AAD2-3AD470CCBF3B}" type="datetimeFigureOut">
              <a:rPr lang="he-IL" smtClean="0"/>
              <a:t>ט"ו/תמוז/תשפ"ו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3FE66-17B9-9894-0C62-352FA4B16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7ECB3D-E1FE-CAAA-F74A-20A9F78BA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FC39-FBFB-4D24-90A1-FB2E0D83F9F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9525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586DF5-47A7-DB6E-221E-88322D37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4A165-AB68-4DAF-AAD2-3AD470CCBF3B}" type="datetimeFigureOut">
              <a:rPr lang="he-IL" smtClean="0"/>
              <a:t>ט"ו/תמוז/תשפ"ו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2852EC-3CE3-533E-69F9-FF12CEBE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2ECC2-335F-234F-C880-C75EC9D8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FC39-FBFB-4D24-90A1-FB2E0D83F9F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3255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10D22-0562-B4C8-57CE-BADA0143A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654FA-D0F8-F760-7420-2F92F1D70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6F91F-95EB-9B06-D5C0-51E10D545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37C26-83AB-38D7-08EE-AB55FE78B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4A165-AB68-4DAF-AAD2-3AD470CCBF3B}" type="datetimeFigureOut">
              <a:rPr lang="he-IL" smtClean="0"/>
              <a:t>ט"ו/תמוז/תשפ"ו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AFE179-2178-75BE-D910-ACE8DFA96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DDF43-2E07-37E0-F3EB-F87DBCE20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FC39-FBFB-4D24-90A1-FB2E0D83F9F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72426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F86A2-EC16-5148-5D31-612F075C9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36CCC8-06F7-15B0-9F73-F7175615FC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628B5A-F0D8-3DE0-E9E9-29DEAA546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4826F6-C53E-2EC3-0C68-E906E1D94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4A165-AB68-4DAF-AAD2-3AD470CCBF3B}" type="datetimeFigureOut">
              <a:rPr lang="he-IL" smtClean="0"/>
              <a:t>ט"ו/תמוז/תשפ"ו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3A72E-455D-B69C-7BCA-F7B86948F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41545E-0B5B-FF19-FE62-85674BC80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FC39-FBFB-4D24-90A1-FB2E0D83F9F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1465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6FF96-C70C-85B7-B05D-35A5BB702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F51FB6-4124-92E0-3AFC-AD5E357CE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0ECCF-5AEF-511C-D88A-9D44C2645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4A165-AB68-4DAF-AAD2-3AD470CCBF3B}" type="datetimeFigureOut">
              <a:rPr lang="he-IL" smtClean="0"/>
              <a:t>ט"ו/תמוז/תשפ"ו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B97EA-5211-A015-6F07-59963C3A1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E5F2E-B8ED-C3BA-AC1B-92438C730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FC39-FBFB-4D24-90A1-FB2E0D83F9F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3741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249F9C-9951-E009-D701-4415994257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DFD0BA-2304-5F8A-C415-F51EE80AB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3B403-3F6C-991B-FEE8-75E8901ED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4A165-AB68-4DAF-AAD2-3AD470CCBF3B}" type="datetimeFigureOut">
              <a:rPr lang="he-IL" smtClean="0"/>
              <a:t>ט"ו/תמוז/תשפ"ו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F0AAA-FE0C-8219-9251-D351FDEF6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DC0BB-CBD0-1F55-4A70-9CD7C0BA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FC39-FBFB-4D24-90A1-FB2E0D83F9F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55960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BBDA26-7D32-2597-DD2B-D6483AF80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0CF67-8F7C-8787-BFE4-E7F99D94B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B2686-5BE7-774D-7892-5A985908E2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14A165-AB68-4DAF-AAD2-3AD470CCBF3B}" type="datetimeFigureOut">
              <a:rPr lang="he-IL" smtClean="0"/>
              <a:t>ט"ו/תמוז/תשפ"ו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2DE5F-BC50-5B6F-7860-C70BC0FE5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AF78D-628F-D2CB-31F6-4C8BC2B90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E7FC39-FBFB-4D24-90A1-FB2E0D83F9F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52281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4F531-5FC0-E76F-519C-02B405EAFB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1041400"/>
            <a:ext cx="10439400" cy="2387600"/>
          </a:xfrm>
        </p:spPr>
        <p:txBody>
          <a:bodyPr/>
          <a:lstStyle/>
          <a:p>
            <a:pPr rtl="1"/>
            <a:r>
              <a:rPr lang="he-IL" dirty="0"/>
              <a:t>סיכום ביניים – </a:t>
            </a:r>
            <a:r>
              <a:rPr lang="en-US" dirty="0"/>
              <a:t>Sequence Similarity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1BBA97-67E7-69AB-F735-E503D690E7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יולי תשובה</a:t>
            </a:r>
          </a:p>
        </p:txBody>
      </p:sp>
    </p:spTree>
    <p:extLst>
      <p:ext uri="{BB962C8B-B14F-4D97-AF65-F5344CB8AC3E}">
        <p14:creationId xmlns:p14="http://schemas.microsoft.com/office/powerpoint/2010/main" val="3083723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04D4C-244E-8A2E-2CA4-CC25D6137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מוטיבציה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9DCDE-92BC-D137-2C35-5781644CF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rtl="1">
              <a:buNone/>
            </a:pPr>
            <a:r>
              <a:rPr lang="he-IL" dirty="0"/>
              <a:t>הרבה מהעבודות בתחום באות עם מוטיבציה של מגמות של מגפת הקורונה (עבודה מרכזית היא </a:t>
            </a:r>
            <a:r>
              <a:rPr lang="en-US" dirty="0"/>
              <a:t>DTW+S</a:t>
            </a:r>
            <a:r>
              <a:rPr lang="he-IL" dirty="0"/>
              <a:t> עליה נדבר מאוחר יותר) או מידע סנסורי רפואי כמו אותות של פעילות מוחית. אף אחד לא בדק בהקשרים לא פיננסיים טרנדים של מניות. </a:t>
            </a:r>
          </a:p>
          <a:p>
            <a:pPr marL="0" indent="0" algn="r" rtl="1">
              <a:buNone/>
            </a:pPr>
            <a:endParaRPr lang="he-IL" dirty="0"/>
          </a:p>
          <a:p>
            <a:pPr marL="0" indent="0" algn="r" rtl="1">
              <a:buNone/>
            </a:pPr>
            <a:r>
              <a:rPr lang="he-IL" dirty="0"/>
              <a:t>המוטיבציה ברורה – מציאת רצפים דומים ובכך נוכל לקבל יותר מידע לפני קבלת החלטות (קנייה/מכירה של מניות, החלטה על סגר/שחרור הסגר, האם לבצע ניתוח של החולה, ...).</a:t>
            </a:r>
          </a:p>
        </p:txBody>
      </p:sp>
    </p:spTree>
    <p:extLst>
      <p:ext uri="{BB962C8B-B14F-4D97-AF65-F5344CB8AC3E}">
        <p14:creationId xmlns:p14="http://schemas.microsoft.com/office/powerpoint/2010/main" val="1337602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175DB-1D9B-758B-D914-2054EC4BD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התזה שלנו – </a:t>
            </a:r>
            <a:r>
              <a:rPr lang="en-US" dirty="0"/>
              <a:t>human aligned similarity metric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88C30-A21D-469D-1A33-BF0DB33DD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677455"/>
          </a:xfrm>
        </p:spPr>
        <p:txBody>
          <a:bodyPr/>
          <a:lstStyle/>
          <a:p>
            <a:pPr algn="r" rtl="1"/>
            <a:r>
              <a:rPr lang="he-IL" dirty="0"/>
              <a:t>אין לנו מטרה להביא לאופטימום איזה </a:t>
            </a:r>
            <a:r>
              <a:rPr lang="en-US" dirty="0"/>
              <a:t>objective function</a:t>
            </a:r>
            <a:r>
              <a:rPr lang="he-IL" dirty="0"/>
              <a:t> אלא יותר להתיישר על פי ההיגיון האנושי. זה ניכר בשני אופנים:</a:t>
            </a:r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lvl="1" algn="r" rtl="1"/>
            <a:endParaRPr lang="he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4EC8AB-9556-55C1-3502-154E9289D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0986"/>
            <a:ext cx="12070798" cy="307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49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434A-F6BB-109A-F241-19B99D52C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Interpretability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0CDAB-B6FC-0C70-C56B-8DBC84D2C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en-US" sz="3200" dirty="0"/>
              <a:t>Interpretability</a:t>
            </a:r>
            <a:r>
              <a:rPr lang="he-IL" sz="3200" dirty="0"/>
              <a:t> חשובה לנו משום שבני אדם מקבלים החלטות מתוך סט שיקולים. לכן, ה</a:t>
            </a:r>
            <a:r>
              <a:rPr lang="en-US" sz="3200" dirty="0"/>
              <a:t> interpretability</a:t>
            </a:r>
            <a:r>
              <a:rPr lang="he-IL" sz="3200" dirty="0"/>
              <a:t>נהפכת להיות </a:t>
            </a:r>
            <a:r>
              <a:rPr lang="he-IL" sz="3200" b="1" dirty="0"/>
              <a:t>חלק מהותי מהתזה</a:t>
            </a:r>
            <a:r>
              <a:rPr lang="he-IL" sz="3200" dirty="0"/>
              <a:t> שלנו שהמתודה שלנו יכולה להתחקות לדמיון אנושי – מקבלת החלטות כמו בני אדם.</a:t>
            </a:r>
          </a:p>
        </p:txBody>
      </p:sp>
    </p:spTree>
    <p:extLst>
      <p:ext uri="{BB962C8B-B14F-4D97-AF65-F5344CB8AC3E}">
        <p14:creationId xmlns:p14="http://schemas.microsoft.com/office/powerpoint/2010/main" val="3559016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6635E-E531-F241-91B2-5893D31A1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framing</a:t>
            </a:r>
            <a:endParaRPr lang="he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CE38B5-96C7-A9B4-3D00-A176C77ED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5" y="1542198"/>
            <a:ext cx="11965750" cy="349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696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4E67B-9A80-D05C-332C-8C914DEB7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human study is the paper — main points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5A2D5-DCDF-5E16-C96C-6DD53A37C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Can’t apply cherry-picking → </a:t>
            </a:r>
            <a:r>
              <a:rPr lang="en-US" dirty="0">
                <a:highlight>
                  <a:srgbClr val="FFFF00"/>
                </a:highlight>
              </a:rPr>
              <a:t>mechanical, outcome-blind adversarial selection</a:t>
            </a:r>
            <a:r>
              <a:rPr lang="en-US" dirty="0"/>
              <a:t>, frozen/pre-registered, both directions presented.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dirty="0"/>
              <a:t>  2. Right question → </a:t>
            </a:r>
            <a:r>
              <a:rPr lang="en-US" dirty="0">
                <a:highlight>
                  <a:srgbClr val="FFFF00"/>
                </a:highlight>
              </a:rPr>
              <a:t>triplets</a:t>
            </a:r>
            <a:r>
              <a:rPr lang="en-US" dirty="0"/>
              <a:t>/odd-one-out, not similarity scores.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dirty="0"/>
              <a:t>  3. </a:t>
            </a:r>
            <a:r>
              <a:rPr lang="en-US" dirty="0">
                <a:highlight>
                  <a:srgbClr val="FFFF00"/>
                </a:highlight>
              </a:rPr>
              <a:t>Inter-rater agreement </a:t>
            </a:r>
            <a:r>
              <a:rPr lang="en-US" dirty="0"/>
              <a:t>(</a:t>
            </a:r>
            <a:r>
              <a:rPr lang="en-US" dirty="0" err="1"/>
              <a:t>Krippendorff's</a:t>
            </a:r>
            <a:r>
              <a:rPr lang="en-US" dirty="0"/>
              <a:t> </a:t>
            </a:r>
            <a:r>
              <a:rPr lang="el-GR" dirty="0"/>
              <a:t>α) → </a:t>
            </a:r>
            <a:r>
              <a:rPr lang="en-US" dirty="0"/>
              <a:t>check the labelers actually agree among themselves. </a:t>
            </a:r>
          </a:p>
          <a:p>
            <a:pPr marL="0" indent="0">
              <a:buNone/>
            </a:pPr>
            <a:r>
              <a:rPr lang="en-US" dirty="0"/>
              <a:t>4. Competence floor → </a:t>
            </a:r>
            <a:r>
              <a:rPr lang="en-US" dirty="0">
                <a:highlight>
                  <a:srgbClr val="FFFF00"/>
                </a:highlight>
              </a:rPr>
              <a:t>show it's competitive on ordinary benchmarks too</a:t>
            </a:r>
            <a:r>
              <a:rPr lang="en-US" dirty="0"/>
              <a:t>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925848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5128-6349-A49F-1DD6-B6ECE60CC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UCR archive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2F0F0-C972-EC9A-5067-EC9B7AE41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767"/>
            <a:ext cx="10515600" cy="496510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The UCR archive (UCR/UEA Time Series Classification Archive) is the </a:t>
            </a:r>
            <a:r>
              <a:rPr lang="en-US" b="1" dirty="0"/>
              <a:t>standard benchmark dataset collection for time-series methods </a:t>
            </a:r>
            <a:r>
              <a:rPr lang="en-US" dirty="0"/>
              <a:t>— maintained originally at UC Riverside.</a:t>
            </a:r>
          </a:p>
          <a:p>
            <a:pPr marL="0" indent="0">
              <a:buNone/>
            </a:pPr>
            <a:r>
              <a:rPr lang="en-US" dirty="0"/>
              <a:t>  - It's a set of </a:t>
            </a:r>
            <a:r>
              <a:rPr lang="en-US" dirty="0">
                <a:highlight>
                  <a:srgbClr val="FFFF00"/>
                </a:highlight>
              </a:rPr>
              <a:t>~128 labeled time-series</a:t>
            </a:r>
            <a:r>
              <a:rPr lang="en-US" dirty="0"/>
              <a:t> classification datasets (ECG, sensor readings, shapes traced as curves, spectra, motion, etc.).          </a:t>
            </a:r>
          </a:p>
          <a:p>
            <a:pPr marL="0" indent="0">
              <a:buNone/>
            </a:pPr>
            <a:r>
              <a:rPr lang="en-US" dirty="0"/>
              <a:t>  - It's the de facto "</a:t>
            </a:r>
            <a:r>
              <a:rPr lang="en-US" dirty="0">
                <a:highlight>
                  <a:srgbClr val="FFFF00"/>
                </a:highlight>
              </a:rPr>
              <a:t>if you propose a new distance/method, you must test on this</a:t>
            </a:r>
            <a:r>
              <a:rPr lang="en-US" dirty="0"/>
              <a:t>" benchmark. Nearly every DTW variant reports results as "beats X </a:t>
            </a:r>
          </a:p>
          <a:p>
            <a:pPr marL="0" indent="0">
              <a:buNone/>
            </a:pPr>
            <a:r>
              <a:rPr lang="en-US" dirty="0"/>
              <a:t>  out of Y UCR datasets."</a:t>
            </a:r>
          </a:p>
          <a:p>
            <a:pPr marL="0" indent="0">
              <a:buNone/>
            </a:pPr>
            <a:r>
              <a:rPr lang="en-US" dirty="0"/>
              <a:t>  - Methods are evaluated by 1-nearest-neighbor classification accuracy: a good similarity measure should put same-class series close together.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553111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D04A8-41A5-1B62-3EA9-3E125DE96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638BA-D653-8EED-E955-BCAC242F3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work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918F1-26EB-05E6-11F6-AE932704D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DTW+S </a:t>
            </a:r>
            <a:r>
              <a:rPr lang="en-US" dirty="0"/>
              <a:t>(Srivastava, 2023 / AAAI 2025) — like us on shape/local-trend representation.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Its end goal is a </a:t>
            </a:r>
            <a:r>
              <a:rPr lang="en-US" b="1" dirty="0"/>
              <a:t>shape-aware</a:t>
            </a:r>
            <a:r>
              <a:rPr lang="en-US" dirty="0"/>
              <a:t> comparison that respects </a:t>
            </a:r>
            <a:r>
              <a:rPr lang="en-US" b="1" dirty="0"/>
              <a:t>ordered local trends</a:t>
            </a:r>
            <a:r>
              <a:rPr lang="en-US" dirty="0"/>
              <a:t>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How it works?</a:t>
            </a:r>
          </a:p>
        </p:txBody>
      </p:sp>
    </p:spTree>
    <p:extLst>
      <p:ext uri="{BB962C8B-B14F-4D97-AF65-F5344CB8AC3E}">
        <p14:creationId xmlns:p14="http://schemas.microsoft.com/office/powerpoint/2010/main" val="243754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935B53-13D7-6E6A-225B-E2FF23E42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18" y="234080"/>
            <a:ext cx="10659963" cy="28864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A52976-7E8D-71DA-9AA8-5F0C02B82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18" y="3429000"/>
            <a:ext cx="10986745" cy="301732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65AA878-4A62-EFF1-ECBA-272B8CD55039}"/>
                  </a:ext>
                </a:extLst>
              </p14:cNvPr>
              <p14:cNvContentPartPr/>
              <p14:nvPr/>
            </p14:nvContentPartPr>
            <p14:xfrm>
              <a:off x="1663274" y="5210913"/>
              <a:ext cx="3472560" cy="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65AA878-4A62-EFF1-ECBA-272B8CD550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91274" y="4922913"/>
                <a:ext cx="3616200" cy="57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1B4C167-E0B3-717B-B425-FF832EF33198}"/>
                  </a:ext>
                </a:extLst>
              </p14:cNvPr>
              <p14:cNvContentPartPr/>
              <p14:nvPr/>
            </p14:nvContentPartPr>
            <p14:xfrm>
              <a:off x="6808034" y="1773633"/>
              <a:ext cx="3151440" cy="264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1B4C167-E0B3-717B-B425-FF832EF3319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36394" y="1629993"/>
                <a:ext cx="3295080" cy="55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8191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82AC-8CC4-3002-A92C-A903C5C01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relevant works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FE8FD-2338-3528-E344-99BD453A4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236"/>
            <a:ext cx="10515600" cy="5004833"/>
          </a:xfrm>
        </p:spPr>
        <p:txBody>
          <a:bodyPr>
            <a:normAutofit/>
          </a:bodyPr>
          <a:lstStyle/>
          <a:p>
            <a:r>
              <a:rPr lang="he-IL" b="1" dirty="0" err="1"/>
              <a:t>Comparing</a:t>
            </a:r>
            <a:r>
              <a:rPr lang="he-IL" b="1" dirty="0"/>
              <a:t> </a:t>
            </a:r>
            <a:r>
              <a:rPr lang="he-IL" b="1" dirty="0" err="1"/>
              <a:t>Similarity</a:t>
            </a:r>
            <a:r>
              <a:rPr lang="he-IL" b="1" dirty="0"/>
              <a:t> </a:t>
            </a:r>
            <a:r>
              <a:rPr lang="he-IL" b="1" dirty="0" err="1"/>
              <a:t>Perception</a:t>
            </a:r>
            <a:r>
              <a:rPr lang="he-IL" b="1" dirty="0"/>
              <a:t> </a:t>
            </a:r>
            <a:r>
              <a:rPr lang="he-IL" b="1" dirty="0" err="1"/>
              <a:t>in</a:t>
            </a:r>
            <a:r>
              <a:rPr lang="he-IL" b="1" dirty="0"/>
              <a:t> </a:t>
            </a:r>
            <a:r>
              <a:rPr lang="he-IL" b="1" dirty="0" err="1"/>
              <a:t>Time</a:t>
            </a:r>
            <a:r>
              <a:rPr lang="he-IL" b="1" dirty="0"/>
              <a:t> </a:t>
            </a:r>
            <a:r>
              <a:rPr lang="he-IL" b="1" dirty="0" err="1"/>
              <a:t>Series</a:t>
            </a:r>
            <a:r>
              <a:rPr lang="he-IL" b="1" dirty="0"/>
              <a:t> </a:t>
            </a:r>
            <a:r>
              <a:rPr lang="he-IL" b="1" dirty="0" err="1"/>
              <a:t>Visualizations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Gogolou</a:t>
            </a:r>
            <a:r>
              <a:rPr lang="en-US" dirty="0"/>
              <a:t> et al. 2019, cited by 74) is a work published at IEEE about perception of time series similarity. It’s bottom line is that DTW is a bit perceptual (0.54), and through the paper they show how different presentation of sequences to labelers affect they labeling.</a:t>
            </a:r>
          </a:p>
          <a:p>
            <a:r>
              <a:rPr lang="en-US" b="1" dirty="0" err="1"/>
              <a:t>shapeDTW</a:t>
            </a:r>
            <a:r>
              <a:rPr lang="en-US" dirty="0"/>
              <a:t> (</a:t>
            </a:r>
            <a:r>
              <a:rPr lang="he-IL" dirty="0"/>
              <a:t>J. </a:t>
            </a:r>
            <a:r>
              <a:rPr lang="he-IL" dirty="0" err="1"/>
              <a:t>Zhao</a:t>
            </a:r>
            <a:r>
              <a:rPr lang="he-IL" dirty="0"/>
              <a:t> </a:t>
            </a:r>
            <a:r>
              <a:rPr lang="he-IL" dirty="0" err="1"/>
              <a:t>and</a:t>
            </a:r>
            <a:r>
              <a:rPr lang="he-IL" dirty="0"/>
              <a:t> L. </a:t>
            </a:r>
            <a:r>
              <a:rPr lang="he-IL" dirty="0" err="1"/>
              <a:t>Itti</a:t>
            </a:r>
            <a:r>
              <a:rPr lang="he-IL" dirty="0"/>
              <a:t>.</a:t>
            </a:r>
            <a:r>
              <a:rPr lang="en-US" dirty="0"/>
              <a:t>, ScienceDirect, 2018, cited by 267): encodes a local shape descriptor around every point and aligns descriptor sequences with DTW. Beats DTW on 64/84 datasets of the UCR.</a:t>
            </a:r>
            <a:r>
              <a:rPr lang="he-I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7209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9B909-84C8-39CB-05B7-FDDB315F2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3090"/>
            <a:ext cx="10515600" cy="4351338"/>
          </a:xfrm>
        </p:spPr>
        <p:txBody>
          <a:bodyPr/>
          <a:lstStyle/>
          <a:p>
            <a:r>
              <a:rPr lang="en-US" b="1" dirty="0"/>
              <a:t>ESDTW</a:t>
            </a:r>
            <a:r>
              <a:rPr lang="en-US" dirty="0"/>
              <a:t> (extrema-based shape DTW, L</a:t>
            </a:r>
            <a:r>
              <a:rPr lang="he-IL" dirty="0"/>
              <a:t>. </a:t>
            </a:r>
            <a:r>
              <a:rPr lang="en-US" dirty="0"/>
              <a:t>Qiu et al., 2024, ScienceDirect, cited by 22): another member of the "don't run DTW on raw points — run it on a shape-aware representation" family (same skeleton as </a:t>
            </a:r>
            <a:r>
              <a:rPr lang="en-US" dirty="0" err="1"/>
              <a:t>shapeDTW</a:t>
            </a:r>
            <a:r>
              <a:rPr lang="en-US" dirty="0"/>
              <a:t> and DTW+S). Its specific twist: it uses the series' local extrema (the maxima and minima — the peaks and valleys) as the structural anchors, and aligns shape descriptors built around those extrema with DTW.</a:t>
            </a:r>
            <a:endParaRPr lang="he-IL" dirty="0"/>
          </a:p>
          <a:p>
            <a:pPr marL="0" indent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923538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583</Words>
  <Application>Microsoft Office PowerPoint</Application>
  <PresentationFormat>Widescreen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סיכום ביניים – Sequence Similarity</vt:lpstr>
      <vt:lpstr>מוטיבציה</vt:lpstr>
      <vt:lpstr>התזה שלנו – human aligned similarity metric</vt:lpstr>
      <vt:lpstr>Interpretability</vt:lpstr>
      <vt:lpstr>Our framing</vt:lpstr>
      <vt:lpstr>The human study is the paper — main points</vt:lpstr>
      <vt:lpstr>The UCR archive</vt:lpstr>
      <vt:lpstr>Related work</vt:lpstr>
      <vt:lpstr>PowerPoint Presentation</vt:lpstr>
      <vt:lpstr>Other relevant works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Yuli Tshuva</dc:creator>
  <cp:lastModifiedBy>Yuli Tshuva</cp:lastModifiedBy>
  <cp:revision>7</cp:revision>
  <dcterms:created xsi:type="dcterms:W3CDTF">2026-06-29T06:20:48Z</dcterms:created>
  <dcterms:modified xsi:type="dcterms:W3CDTF">2026-06-30T09:06:44Z</dcterms:modified>
</cp:coreProperties>
</file>